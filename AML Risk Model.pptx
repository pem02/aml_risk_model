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91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a technical assessment. Keep it to 20 minutes plus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network graphs do more work than any table — the audience sees what the model is looking for. Export from Notebook 1, Sections 6.1 and 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fast — 30 seconds. It establishes the target 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these BEFORE showing results, not after. It buys credibility for everything that comes next — and pre-empts the expert's first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the room. Slow down here. Walk them from the hypothesis to the $20 rule to the punchline.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are the slide. Let them breathe. The 5.9× comparison is the takeaway — say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takeaways slowly. These are the sentences you want them repeating after you leave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123950" y="1819275"/>
            <a:ext cx="1373505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25"/>
              </a:lnSpc>
              <a:buNone/>
            </a:pPr>
            <a:r>
              <a:rPr lang="en-US" sz="9000" b="1" kern="0" spc="-225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AML Account-Level Risk Model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123950" y="4391025"/>
            <a:ext cx="11525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C7CDD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Identifying suspicious accounts from transactional behavior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23950" y="8484870"/>
            <a:ext cx="16040100" cy="9525"/>
          </a:xfrm>
          <a:prstGeom prst="rect">
            <a:avLst/>
          </a:prstGeom>
          <a:solidFill>
            <a:srgbClr val="F0EFE9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123950" y="8778240"/>
            <a:ext cx="453221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</a:rPr>
              <a:t>PEM02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2844165"/>
            <a:ext cx="38100" cy="1609249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485900" y="2844165"/>
            <a:ext cx="7909427" cy="1647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566"/>
              </a:lnSpc>
              <a:buNone/>
            </a:pPr>
            <a:r>
              <a:rPr lang="en-US" sz="3300" i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Based only on an account's transaction activity, which accounts are most likely to be suspicious?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888855" y="2844165"/>
            <a:ext cx="80027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88855" y="3339465"/>
            <a:ext cx="800271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/ risk ranking at the </a:t>
            </a: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88855" y="3877628"/>
            <a:ext cx="749345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IBM AMLSim — 10,000 accounts, 1.3M transactions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888855" y="4801553"/>
            <a:ext cx="749345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a risk score per account, and the reasoning behind it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888855" y="5935027"/>
            <a:ext cx="80027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"GOOD" MEANS HERE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88855" y="6411277"/>
            <a:ext cx="749345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most complex model — a defensible one. In AML, a score you cannot explain cannot be deployed.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AT A GLANCE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dataset in six numbers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3575685"/>
            <a:ext cx="691800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123950" y="3049905"/>
            <a:ext cx="125158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852444" y="2958465"/>
            <a:ext cx="126571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123950" y="4352925"/>
            <a:ext cx="691800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123950" y="3827145"/>
            <a:ext cx="17876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356509" y="3735705"/>
            <a:ext cx="185399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1,323,234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123950" y="5130165"/>
            <a:ext cx="691800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123950" y="4604385"/>
            <a:ext cx="38083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(SAR) accounts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662295" y="4512945"/>
            <a:ext cx="2617629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1,685 · 16.85%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123950" y="5907405"/>
            <a:ext cx="691800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123950" y="5381625"/>
            <a:ext cx="291780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transactions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977731" y="5290185"/>
            <a:ext cx="2270649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1,719 · 0.13%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1123950" y="6684645"/>
            <a:ext cx="691800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123950" y="6158865"/>
            <a:ext cx="291780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Laundering schemes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438231" y="6067425"/>
            <a:ext cx="67992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391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123950" y="7461885"/>
            <a:ext cx="691800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123950" y="6936105"/>
            <a:ext cx="283014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window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289516" y="6844665"/>
            <a:ext cx="192768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200 steps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8708707" y="2806065"/>
            <a:ext cx="93008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TYPOLOGIES, BOTH STRUCTURAL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08707" y="3301365"/>
            <a:ext cx="4103846" cy="5172075"/>
          </a:xfrm>
          <a:prstGeom prst="roundRect">
            <a:avLst>
              <a:gd name="adj" fmla="val 1393"/>
            </a:avLst>
          </a:prstGeom>
          <a:solidFill>
            <a:srgbClr val="F3F0E9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708707" y="8606790"/>
            <a:ext cx="45142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08707" y="8949690"/>
            <a:ext cx="422696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circulate through a chain and return — layering.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060204" y="3301365"/>
            <a:ext cx="4103846" cy="5172075"/>
          </a:xfrm>
          <a:prstGeom prst="roundRect">
            <a:avLst>
              <a:gd name="adj" fmla="val 1393"/>
            </a:avLst>
          </a:prstGeom>
          <a:solidFill>
            <a:srgbClr val="F3F0E9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8" name="Text 26"/>
          <p:cNvSpPr/>
          <p:nvPr/>
        </p:nvSpPr>
        <p:spPr>
          <a:xfrm>
            <a:off x="13060204" y="8606790"/>
            <a:ext cx="45142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fan_in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060204" y="8949690"/>
            <a:ext cx="4226962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senders converge on one account — structuring.</a:t>
            </a:r>
            <a:endParaRPr lang="en-US" sz="18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B017DBCC-865F-0901-3B4A-3EBA3B6D4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706" y="3170736"/>
            <a:ext cx="4226961" cy="533641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BA938386-F339-67A5-7B34-5C9DDCA9B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0204" y="3168143"/>
            <a:ext cx="4226962" cy="5336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verified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882265"/>
            <a:ext cx="842391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Clean, and verified as such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23950" y="3579495"/>
            <a:ext cx="788784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96"/>
              </a:lnSpc>
              <a:buNone/>
            </a:pPr>
            <a:r>
              <a:rPr lang="en-US" sz="225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nulls · 0 duplicate keys · 0 orphan IDs · TX_ID sequential and complete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05950" y="2882265"/>
            <a:ext cx="842391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validated in both directions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505950" y="3579495"/>
            <a:ext cx="842391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25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accounts with transactional evidence left unlabeled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05950" y="4136707"/>
            <a:ext cx="788784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labeled accounts (2.7%) with no evidence in </a:t>
            </a:r>
            <a:r>
              <a:rPr lang="en-US" sz="19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alerts.csv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scope limitation of the extract, not label corruption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23950" y="8926830"/>
            <a:ext cx="1604010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123950" y="9201150"/>
            <a:ext cx="176441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9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accounts.IS_FRAUD </a:t>
            </a:r>
            <a:r>
              <a:rPr lang="en-US" sz="22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as the target, no redefinition needed.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LIMITATIONS · DECLARED UPFRONT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These bound every number that follows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4549140"/>
            <a:ext cx="4381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676400" y="4549140"/>
            <a:ext cx="7348252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05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16.85% SAR rate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production AML runs below 1%. Our metrics are optimistic.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477375" y="4549140"/>
            <a:ext cx="4381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029825" y="4549140"/>
            <a:ext cx="7348252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05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channel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transfers only. No cash deposits or withdrawals.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23950" y="5600700"/>
            <a:ext cx="4381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76400" y="5600700"/>
            <a:ext cx="7348252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05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typologies only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</a:t>
            </a:r>
            <a:r>
              <a:rPr lang="en-US" sz="19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fan_out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scatter-gather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r>
              <a:rPr lang="en-US" sz="19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477375" y="5600700"/>
            <a:ext cx="4381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29825" y="5600700"/>
            <a:ext cx="7348252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05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scheme geometry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cycle is exactly 5 transactions. Reality is not this tidy.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23950" y="6652260"/>
            <a:ext cx="4381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676400" y="6652260"/>
            <a:ext cx="7348252" cy="118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05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overflow defect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3,053 transactions pinned at exactly 2³¹−1 ÷ 100. A generation bug, not economic behavior.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77375" y="6652260"/>
            <a:ext cx="4381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29825" y="6652260"/>
            <a:ext cx="7348252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05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censoring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~5% of schemes truncated at the edges of the observation window.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ENGINEERING · THE DESIGN PRINCIPLE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4716125" cy="1592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typologies are patterns of </a:t>
            </a:r>
            <a:r>
              <a:rPr lang="en-US" sz="4800" b="1" kern="0" spc="-96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</a:t>
            </a: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not of volume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3545205"/>
            <a:ext cx="910486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the features answer </a:t>
            </a: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whom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transacts — not just how much.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23950" y="4669155"/>
            <a:ext cx="97236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DISTINCTION THAT MATTERED MOST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23950" y="5941695"/>
            <a:ext cx="4842510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966460" y="5941695"/>
            <a:ext cx="2284095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080760" y="5297805"/>
            <a:ext cx="20554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received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50555" y="5941695"/>
            <a:ext cx="1713071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364855" y="5297805"/>
            <a:ext cx="1484471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senders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23950" y="6947535"/>
            <a:ext cx="484251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276350" y="6128385"/>
            <a:ext cx="468298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1184"/>
              </a:lnSpc>
              <a:buNone/>
            </a:pPr>
            <a:r>
              <a:rPr lang="en-US" sz="19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 — 50 tx, all from one counterparty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66460" y="6947535"/>
            <a:ext cx="228409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080760" y="6128385"/>
            <a:ext cx="205549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50555" y="6947535"/>
            <a:ext cx="1713071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364855" y="6128385"/>
            <a:ext cx="148447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23950" y="7941945"/>
            <a:ext cx="484251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276350" y="7126605"/>
            <a:ext cx="468298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1184"/>
              </a:lnSpc>
              <a:buNone/>
            </a:pPr>
            <a:r>
              <a:rPr lang="en-US" sz="19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B — 50 tx, from 50 different counterparties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5966460" y="7941945"/>
            <a:ext cx="228409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080760" y="7126605"/>
            <a:ext cx="205549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250555" y="7941945"/>
            <a:ext cx="1713071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364855" y="7126605"/>
            <a:ext cx="1484471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23950" y="8181975"/>
            <a:ext cx="910486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counts see these as identical.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B is a textbook </a:t>
            </a:r>
            <a:r>
              <a:rPr lang="en-US" sz="1800" b="1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fan_in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Account A is an ordinary supplier relationship.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FAMILIES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 features across 7 families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2806065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360170" y="3061335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degree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60170" y="3541395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counterparties in / out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60170" y="5540693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fan_in signature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86363" y="2806065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422582" y="3061335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Reciprocity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22582" y="3541395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Counterparties both sent to and received from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22582" y="5540693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cycle signature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48775" y="2806065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484995" y="3061335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84995" y="3541395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imbalance, pass-through detection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84995" y="5540693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layering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11188" y="2806065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3547408" y="3061335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Counterparty repetition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547408" y="3541395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senders each contributing little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547408" y="5540693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structuring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23950" y="6279832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360170" y="6535102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Temporal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60170" y="7015163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Burstiness — schemes execute fast, not evenly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60170" y="9014460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timing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186363" y="6279832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422582" y="6535102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Volume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5422582" y="7015163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context for normalization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22582" y="9014460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context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248775" y="6279832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9484995" y="6535102"/>
            <a:ext cx="371846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Balance-relative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484995" y="7015163"/>
            <a:ext cx="3481835" cy="188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vs. what the account's profile justifies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84995" y="9014460"/>
            <a:ext cx="37184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profile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3311188" y="6279832"/>
            <a:ext cx="3852863" cy="3264218"/>
          </a:xfrm>
          <a:prstGeom prst="roundRect">
            <a:avLst>
              <a:gd name="adj" fmla="val 2334"/>
            </a:avLst>
          </a:prstGeom>
          <a:solidFill>
            <a:srgbClr val="1A2B3C"/>
          </a:solidFill>
          <a:ln w="762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14831219" y="7332821"/>
            <a:ext cx="812641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13829443" y="8186261"/>
            <a:ext cx="28163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360" dirty="0">
                <a:solidFill>
                  <a:srgbClr val="8A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FEATURES TOTAL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PREVENTING DATA LEAKAGE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channels, closed independently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806065"/>
            <a:ext cx="84553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</a:t>
            </a:r>
            <a:r>
              <a:rPr lang="en-US" sz="24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Target-derived columns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3950" y="3347085"/>
            <a:ext cx="79172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19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ALERT_ID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transaction-leve</a:t>
            </a:r>
            <a:r>
              <a:rPr lang="en-US" sz="2250" dirty="0">
                <a:solidFill>
                  <a:srgbClr val="3A46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</a:t>
            </a:r>
            <a:r>
              <a:rPr lang="en-US" sz="2250" dirty="0">
                <a:solidFill>
                  <a:srgbClr val="3A4652"/>
                </a:solidFill>
                <a:latin typeface="JetBrains Mono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3A4652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IS_FRAUD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entirely. Only sender, receiver, amount and timestamp were used.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477375" y="2806065"/>
            <a:ext cx="84553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</a:t>
            </a:r>
            <a:r>
              <a:rPr lang="en-US" sz="24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Statistics on the full dataset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77375" y="3347085"/>
            <a:ext cx="79172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winsorization threshold (p99) is a </a:t>
            </a:r>
            <a:r>
              <a:rPr lang="en-US" sz="2250" i="1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parameter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like a model coefficient. Computing it over the full dataset would embed test-set information.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23950" y="496633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/>
                <a:ea typeface="JetBrains Mono" pitchFamily="34" charset="-122"/>
                <a:cs typeface="Arial" panose="020B0604020202020204" pitchFamily="34" charset="0"/>
              </a:rPr>
              <a:t>CONSEQUENCE — THE SPLIT RUNS BEFORE FEATURE ENGINEERING</a:t>
            </a:r>
            <a:endParaRPr lang="en-US" sz="1800" dirty="0">
              <a:latin typeface="JetBrains Mono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23950" y="5480685"/>
            <a:ext cx="3418046" cy="1146810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341120" y="5747385"/>
            <a:ext cx="328207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Split accounts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41120" y="6116955"/>
            <a:ext cx="328207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75346" y="5480685"/>
            <a:ext cx="400050" cy="118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132546" y="5480685"/>
            <a:ext cx="4014629" cy="1146810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349716" y="5716905"/>
            <a:ext cx="393831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 p99 on TRAIN 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49716" y="6086475"/>
            <a:ext cx="39383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$1,826,133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80525" y="5480685"/>
            <a:ext cx="400050" cy="118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737725" y="5480685"/>
            <a:ext cx="3417888" cy="1146810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9954895" y="5747385"/>
            <a:ext cx="32819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 fixed threshold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54895" y="6116955"/>
            <a:ext cx="32819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all data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288962" y="5480685"/>
            <a:ext cx="400050" cy="118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746162" y="5480685"/>
            <a:ext cx="3417887" cy="1146810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3963333" y="5897880"/>
            <a:ext cx="32819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features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23950" y="9220200"/>
            <a:ext cx="165213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Scaling is fitted inside a </a:t>
            </a:r>
            <a:r>
              <a:rPr lang="en-US" sz="1800" dirty="0">
                <a:solidFill>
                  <a:srgbClr val="3A46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Pipeline</a:t>
            </a:r>
            <a:r>
              <a:rPr lang="en-US" sz="1800" dirty="0">
                <a:solidFill>
                  <a:srgbClr val="3A46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sot its re-fits on training folds only during cross-validation.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MODELING APPROACH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hypotheses, tested head-to-head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767965"/>
            <a:ext cx="84553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1 — Logistic Regression </a:t>
            </a:r>
            <a:r>
              <a:rPr lang="en-US" sz="2400" dirty="0">
                <a:solidFill>
                  <a:srgbClr val="5A6B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(baseline)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3950" y="3270885"/>
            <a:ext cx="7917275" cy="668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5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summing independent feature contributions is enough. </a:t>
            </a:r>
            <a:r>
              <a:rPr lang="en-US" sz="1800" i="1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linear boundary separates the classes.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4187507"/>
            <a:ext cx="84553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2 — XGBoost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" y="4690428"/>
            <a:ext cx="8455343" cy="35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5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the signal is in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combinations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23950" y="5177314"/>
            <a:ext cx="38100" cy="69723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371600" y="5177314"/>
            <a:ext cx="7662196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195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9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fan_in </a:t>
            </a:r>
            <a:r>
              <a:rPr lang="en-US" sz="195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"high in-degree." It is high in-degree </a:t>
            </a:r>
            <a:r>
              <a:rPr lang="en-US" sz="1950" b="1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95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transactions-per-counterparty </a:t>
            </a:r>
            <a:r>
              <a:rPr lang="en-US" sz="1950" b="1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95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in bursts.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477375" y="2767965"/>
            <a:ext cx="84553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XGBOOST SPECIFICALLY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77375" y="322516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05975" y="3253740"/>
            <a:ext cx="54712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conditional rules natively (cascading splits)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77375" y="364807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05975" y="3676650"/>
            <a:ext cx="558182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Boosting: each tree corrects the previous one's errors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77375" y="407098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05975" y="4099560"/>
            <a:ext cx="476491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the heavy tails we found in the data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77375" y="449389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05975" y="4522470"/>
            <a:ext cx="215225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SHAP-explainable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726069" y="4522470"/>
            <a:ext cx="329853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non-negotiable for SAR filing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77376" y="5050156"/>
            <a:ext cx="5699892" cy="1402896"/>
          </a:xfrm>
          <a:prstGeom prst="roundRect">
            <a:avLst>
              <a:gd name="adj" fmla="val 4146"/>
            </a:avLst>
          </a:prstGeom>
          <a:solidFill>
            <a:srgbClr val="F3F0E9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2" name="Text 20"/>
          <p:cNvSpPr/>
          <p:nvPr/>
        </p:nvSpPr>
        <p:spPr>
          <a:xfrm>
            <a:off x="9732645" y="5286375"/>
            <a:ext cx="78937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IMBALANCE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32645" y="5705476"/>
            <a:ext cx="5145949" cy="62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53"/>
              </a:lnSpc>
              <a:buNone/>
            </a:pPr>
            <a:r>
              <a:rPr lang="en-US" sz="1650" dirty="0">
                <a:solidFill>
                  <a:srgbClr val="3A4652"/>
                </a:solidFill>
                <a:latin typeface="JetBrains Mono"/>
                <a:ea typeface="JetBrains Mono"/>
                <a:cs typeface="JetBrains Mono" pitchFamily="34" charset="-120"/>
              </a:rPr>
              <a:t>class_weight='balanced' </a:t>
            </a:r>
            <a:r>
              <a:rPr lang="en-US" sz="1800" dirty="0">
                <a:solidFill>
                  <a:srgbClr val="3A4652"/>
                </a:solidFill>
                <a:latin typeface="JetBrains Mono"/>
                <a:ea typeface="JetBrains Mono"/>
                <a:cs typeface="Arial" pitchFamily="34" charset="-120"/>
              </a:rPr>
              <a:t>/ </a:t>
            </a:r>
            <a:r>
              <a:rPr lang="en-US" sz="1650" dirty="0">
                <a:solidFill>
                  <a:srgbClr val="3A4652"/>
                </a:solidFill>
                <a:latin typeface="JetBrains Mono"/>
                <a:ea typeface="JetBrains Mono"/>
                <a:cs typeface="JetBrains Mono" pitchFamily="34" charset="-120"/>
              </a:rPr>
              <a:t>scale_pos_weight. </a:t>
            </a:r>
            <a:endParaRPr lang="en-US" sz="1800" dirty="0"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RESULTS … AND A RED FLAG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things did not add up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3286125"/>
            <a:ext cx="4276566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238250" y="2901315"/>
            <a:ext cx="417626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00516" y="3286125"/>
            <a:ext cx="2035175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38616" y="2901315"/>
            <a:ext cx="18827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35691" y="3286125"/>
            <a:ext cx="1759268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473791" y="2901315"/>
            <a:ext cx="160686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23950" y="4059555"/>
            <a:ext cx="427656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238250" y="3472815"/>
            <a:ext cx="4176263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400516" y="4059555"/>
            <a:ext cx="203517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438616" y="3472815"/>
            <a:ext cx="1882775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0.869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7435691" y="4059555"/>
            <a:ext cx="175926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473791" y="3472815"/>
            <a:ext cx="1606868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0.719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23950" y="4821555"/>
            <a:ext cx="427656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238250" y="4238625"/>
            <a:ext cx="417626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5400516" y="4821555"/>
            <a:ext cx="203517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438616" y="4238625"/>
            <a:ext cx="188277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B040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0.967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7435691" y="4821555"/>
            <a:ext cx="175926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473791" y="4238625"/>
            <a:ext cx="1606868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B040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0.932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23950" y="5156835"/>
            <a:ext cx="3619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A6B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81150" y="5156835"/>
            <a:ext cx="7842223" cy="970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had established beforehand: no feature exceeds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correlation, and the classes overlap heavily. A 0.97 ROC-AUC was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data should produce.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23950" y="6279832"/>
            <a:ext cx="3619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A6B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581150" y="6279832"/>
            <a:ext cx="7842223" cy="974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feature was </a:t>
            </a:r>
            <a:r>
              <a:rPr lang="en-US" sz="1800" dirty="0">
                <a:solidFill>
                  <a:srgbClr val="B040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amt_sent_std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standard deviation of amounts sent. </a:t>
            </a:r>
            <a:r>
              <a:rPr lang="en-US" sz="1800" i="1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AML typology predicts that amount dispersion is the primary risk signal.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61709" y="8850630"/>
            <a:ext cx="75214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19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model leans on a variable with no basis in the domain, the likely explanation is not insight. It is a </a:t>
            </a:r>
            <a:r>
              <a:rPr lang="en-US" sz="1950" b="1" dirty="0">
                <a:solidFill>
                  <a:srgbClr val="B0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</a:t>
            </a:r>
            <a:r>
              <a:rPr lang="en-US" sz="19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F5CA15FB-3F49-C5E4-BE6C-E92CFF24A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09" y="2701290"/>
            <a:ext cx="7535409" cy="58731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AUDIT 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1734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amount features were detecting the simulator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756535"/>
            <a:ext cx="805560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r>
              <a:rPr lang="en-US" sz="1800" dirty="0">
                <a:solidFill>
                  <a:srgbClr val="C7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generator injects laundering transactions with distinctively tiny amounts. Any account in a scheme carries that fingerprint.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3720465"/>
            <a:ext cx="86030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MEDIAN MINIMUM AMOUNT SENT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23950" y="4215765"/>
            <a:ext cx="3796189" cy="1508760"/>
          </a:xfrm>
          <a:prstGeom prst="roundRect">
            <a:avLst>
              <a:gd name="adj" fmla="val 5051"/>
            </a:avLst>
          </a:prstGeom>
          <a:solidFill>
            <a:srgbClr val="12212F"/>
          </a:solidFill>
          <a:ln w="7620">
            <a:solidFill>
              <a:srgbClr val="F0EFE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360170" y="4471035"/>
            <a:ext cx="365612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A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accounts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60170" y="4791075"/>
            <a:ext cx="3656124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$267.95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148739" y="4215765"/>
            <a:ext cx="3796189" cy="1508760"/>
          </a:xfrm>
          <a:prstGeom prst="roundRect">
            <a:avLst>
              <a:gd name="adj" fmla="val 5051"/>
            </a:avLst>
          </a:prstGeom>
          <a:solidFill>
            <a:srgbClr val="12212F"/>
          </a:solidFill>
          <a:ln w="7620">
            <a:solidFill>
              <a:srgbClr val="F0EFE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384959" y="4471035"/>
            <a:ext cx="365612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A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accounts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84959" y="4791075"/>
            <a:ext cx="3656124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8A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$10.60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123950" y="6029325"/>
            <a:ext cx="38100" cy="111633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390650" y="6029325"/>
            <a:ext cx="83097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0" dirty="0">
                <a:solidFill>
                  <a:srgbClr val="8A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RULE WITH NO MODEL AT ALL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90650" y="6417945"/>
            <a:ext cx="7780906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100" i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"Flag any account that sent a transaction below $20." → </a:t>
            </a: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90% recall.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649777" y="2756535"/>
            <a:ext cx="7514273" cy="5716905"/>
          </a:xfrm>
          <a:prstGeom prst="roundRect">
            <a:avLst>
              <a:gd name="adj" fmla="val 1000"/>
            </a:avLst>
          </a:prstGeom>
          <a:solidFill>
            <a:srgbClr val="12212F"/>
          </a:solidFill>
          <a:ln w="7620">
            <a:solidFill>
              <a:srgbClr val="F0EFE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649777" y="8702040"/>
            <a:ext cx="7739701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15"/>
              </a:lnSpc>
              <a:buNone/>
            </a:pPr>
            <a:r>
              <a:rPr lang="en-US" sz="255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They were not detecting money laundering. They were detecting </a:t>
            </a:r>
            <a:r>
              <a:rPr lang="en-US" sz="2550" b="1" dirty="0">
                <a:solidFill>
                  <a:srgbClr val="E8A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 generation</a:t>
            </a:r>
            <a:r>
              <a:rPr lang="en-US" sz="255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5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874DAEB-D9C0-5438-8594-2F17CD230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920" y="2794635"/>
            <a:ext cx="8603074" cy="5678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ABLATION 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17345"/>
            <a:ext cx="16521303" cy="1592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Remove the first shortcut, and the model reaches for a second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3554730"/>
            <a:ext cx="2341880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257300" y="3204210"/>
            <a:ext cx="21513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465830" y="3554730"/>
            <a:ext cx="1437322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522980" y="3204210"/>
            <a:ext cx="124682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03152" y="3554730"/>
            <a:ext cx="2776538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36502" y="3204210"/>
            <a:ext cx="2593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679690" y="3554730"/>
            <a:ext cx="2702560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813040" y="3204210"/>
            <a:ext cx="251693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23950" y="4343400"/>
            <a:ext cx="234188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257300" y="3760470"/>
            <a:ext cx="2151380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Full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3465830" y="4343400"/>
            <a:ext cx="1437322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522980" y="3760470"/>
            <a:ext cx="1246822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0.967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903152" y="4343400"/>
            <a:ext cx="277653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036502" y="3760470"/>
            <a:ext cx="2593134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amt_sent_std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679690" y="4343400"/>
            <a:ext cx="270256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813040" y="3760470"/>
            <a:ext cx="2516937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0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artifact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23950" y="5120640"/>
            <a:ext cx="234188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257300" y="4541520"/>
            <a:ext cx="215138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No amounts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3465830" y="5120640"/>
            <a:ext cx="1437322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522980" y="4541520"/>
            <a:ext cx="124682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0.943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903152" y="5120640"/>
            <a:ext cx="277653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36502" y="4541520"/>
            <a:ext cx="259313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TX_BEHAVIOR_ID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679690" y="5120640"/>
            <a:ext cx="270256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813040" y="4541520"/>
            <a:ext cx="251693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parameter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23950" y="5894070"/>
            <a:ext cx="2341880" cy="1524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1257300" y="5318760"/>
            <a:ext cx="2151380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Behavioral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3465830" y="5894070"/>
            <a:ext cx="1437322" cy="1524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522980" y="5318760"/>
            <a:ext cx="1246822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0.943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4903152" y="5894070"/>
            <a:ext cx="2776538" cy="1524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036502" y="5318760"/>
            <a:ext cx="2593134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out_degree_unique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679690" y="5894070"/>
            <a:ext cx="2702560" cy="1524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813040" y="5318760"/>
            <a:ext cx="2516937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structure ✓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23950" y="8841513"/>
            <a:ext cx="6151515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TX_BEHAVIOR_ID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an observation of behavior — it is the parameter AMLSim used to </a:t>
            </a:r>
            <a:r>
              <a:rPr lang="en-US" sz="1800" i="1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behavior. Removing it cost nothing (0.943 vs 0.943): its signal was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but redundant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275465" y="8837239"/>
            <a:ext cx="45719" cy="668655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542166" y="8837239"/>
            <a:ext cx="575146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461"/>
              </a:lnSpc>
              <a:buNone/>
            </a:pPr>
            <a:r>
              <a:rPr lang="en-US" sz="1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variant C answers the question asked: </a:t>
            </a:r>
            <a:r>
              <a:rPr lang="en-US" sz="195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"based </a:t>
            </a:r>
            <a:r>
              <a:rPr lang="en-US" sz="1950" b="1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lang="en-US" sz="195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account's transaction activity."</a:t>
            </a:r>
            <a:endParaRPr lang="en-US" sz="195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141AC51C-5E31-6037-03B8-ED96F494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204210"/>
            <a:ext cx="16300162" cy="5336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 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XGBoost beats logistic regression decisively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3213735"/>
            <a:ext cx="3889057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219200" y="2863215"/>
            <a:ext cx="381522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13007" y="3213735"/>
            <a:ext cx="1303655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32057" y="2863215"/>
            <a:ext cx="11893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16663" y="3213735"/>
            <a:ext cx="1108869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335713" y="2863215"/>
            <a:ext cx="9945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25531" y="3213735"/>
            <a:ext cx="1095693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444581" y="2863215"/>
            <a:ext cx="9813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21224" y="3213735"/>
            <a:ext cx="1058069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540274" y="2863215"/>
            <a:ext cx="94376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23950" y="3941445"/>
            <a:ext cx="388905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219200" y="3400425"/>
            <a:ext cx="381522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013007" y="3941445"/>
            <a:ext cx="130365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032057" y="3400425"/>
            <a:ext cx="1189355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0.869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6316663" y="3941445"/>
            <a:ext cx="110886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335713" y="3400425"/>
            <a:ext cx="99456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0.719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425531" y="3941445"/>
            <a:ext cx="1095693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444581" y="3400425"/>
            <a:ext cx="981393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0.561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8521224" y="3941445"/>
            <a:ext cx="105806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540274" y="3400425"/>
            <a:ext cx="94376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0.729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123950" y="4657725"/>
            <a:ext cx="3889057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219200" y="4120515"/>
            <a:ext cx="381522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— behavioral </a:t>
            </a:r>
            <a:r>
              <a:rPr lang="en-US" sz="1875" b="1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(final)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5013007" y="4657725"/>
            <a:ext cx="130365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032057" y="4120515"/>
            <a:ext cx="118935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0.943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316663" y="4657725"/>
            <a:ext cx="110886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335713" y="4120515"/>
            <a:ext cx="99456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0.883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7425531" y="4657725"/>
            <a:ext cx="1095693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444581" y="4120515"/>
            <a:ext cx="98139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0.858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8521224" y="4657725"/>
            <a:ext cx="105806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8540274" y="4120515"/>
            <a:ext cx="94376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0.776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219200" y="4836795"/>
            <a:ext cx="381522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baseline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5032057" y="4836795"/>
            <a:ext cx="1189355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i="1" dirty="0">
                <a:solidFill>
                  <a:srgbClr val="5A6B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0.500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6335713" y="4836795"/>
            <a:ext cx="99456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i="1" dirty="0">
                <a:solidFill>
                  <a:srgbClr val="5A6B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0.168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7444581" y="4836795"/>
            <a:ext cx="981393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8540274" y="4836795"/>
            <a:ext cx="94376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123950" y="5644515"/>
            <a:ext cx="870900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hypothesis: the classes are not linearly separable. The signal lives in combinations.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23950" y="6494145"/>
            <a:ext cx="8455343" cy="1769269"/>
          </a:xfrm>
          <a:prstGeom prst="roundRect">
            <a:avLst>
              <a:gd name="adj" fmla="val 4307"/>
            </a:avLst>
          </a:prstGeom>
          <a:solidFill>
            <a:srgbClr val="F3F0E9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1360170" y="6711315"/>
            <a:ext cx="87811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 PRIORITY: PR-AUC, NOT ROC-AUC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360170" y="7099935"/>
            <a:ext cx="8222389" cy="98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53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counts true negatives — and in production &gt;99% of accounts are legitimate. It stays high while analysts drown in false positives. PR-AUC ignores true negatives entirely.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246042" y="8995410"/>
            <a:ext cx="7125548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Precision-Recall curve — it shows the real gap between models</a:t>
            </a:r>
            <a:endParaRPr lang="en-US" sz="165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0E5BA162-F75B-AC4E-A3AA-E4989735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77"/>
          <a:stretch>
            <a:fillRect/>
          </a:stretch>
        </p:blipFill>
        <p:spPr>
          <a:xfrm>
            <a:off x="10205718" y="2863215"/>
            <a:ext cx="7533641" cy="59988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THIS MEANS OPERATIONALLY 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1734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metric that governs an AML system: </a:t>
            </a:r>
            <a:r>
              <a:rPr lang="en-US" sz="4800" b="1" kern="0" spc="-96" dirty="0" err="1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Precision@K</a:t>
            </a: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4800" b="1" kern="0" spc="-96" dirty="0" err="1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Recall@K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546985"/>
            <a:ext cx="1764411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"what threshold?" — </a:t>
            </a: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many accounts can my team investigate today?"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23950" y="3670935"/>
            <a:ext cx="3954780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238250" y="3320415"/>
            <a:ext cx="38448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78730" y="3670935"/>
            <a:ext cx="2083276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116830" y="3320415"/>
            <a:ext cx="19308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captured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162006" y="3670935"/>
            <a:ext cx="1481455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200106" y="3320415"/>
            <a:ext cx="13290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643461" y="3670935"/>
            <a:ext cx="1353026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681561" y="3320415"/>
            <a:ext cx="120062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23950" y="4368165"/>
            <a:ext cx="395478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238250" y="3857625"/>
            <a:ext cx="3844824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5% · 125 accounts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5078730" y="4368165"/>
            <a:ext cx="208327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116830" y="3857625"/>
            <a:ext cx="1930876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125 / 421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162006" y="4368165"/>
            <a:ext cx="148145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200106" y="3857625"/>
            <a:ext cx="1329055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643461" y="4368165"/>
            <a:ext cx="135302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681561" y="3857625"/>
            <a:ext cx="1200626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29.7%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23950" y="4375785"/>
            <a:ext cx="8872538" cy="685800"/>
          </a:xfrm>
          <a:prstGeom prst="rect">
            <a:avLst/>
          </a:prstGeom>
          <a:solidFill>
            <a:srgbClr val="2F6F4F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1123950" y="5053965"/>
            <a:ext cx="395478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238250" y="4547235"/>
            <a:ext cx="384482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· 250 accounts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5078730" y="5053965"/>
            <a:ext cx="208327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116830" y="4547235"/>
            <a:ext cx="193087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247 / 421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162006" y="5053965"/>
            <a:ext cx="148145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200106" y="4547235"/>
            <a:ext cx="132905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98.8%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643461" y="5053965"/>
            <a:ext cx="135302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8681561" y="4547235"/>
            <a:ext cx="120062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58.7%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123950" y="5739765"/>
            <a:ext cx="3954780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1238250" y="5233035"/>
            <a:ext cx="384482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20% · 500 accounts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5078730" y="5739765"/>
            <a:ext cx="208327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116830" y="5233035"/>
            <a:ext cx="193087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347 / 421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7162006" y="5739765"/>
            <a:ext cx="1481455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200106" y="5233035"/>
            <a:ext cx="132905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69.4%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8643461" y="5739765"/>
            <a:ext cx="135302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8681561" y="5233035"/>
            <a:ext cx="120062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82.4%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238250" y="5918835"/>
            <a:ext cx="3844824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30% · 750 accounts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5116830" y="5918835"/>
            <a:ext cx="1930876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381 / 421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7200106" y="5918835"/>
            <a:ext cx="1329055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50.8%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8681561" y="5918835"/>
            <a:ext cx="1200626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90.5%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0606088" y="3206115"/>
            <a:ext cx="38100" cy="3268980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10910888" y="3206115"/>
            <a:ext cx="6440757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512"/>
              </a:lnSpc>
              <a:buNone/>
            </a:pPr>
            <a:r>
              <a:rPr lang="en-US" sz="21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250 accounts at random finds </a:t>
            </a:r>
            <a:r>
              <a:rPr lang="en-US" sz="2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</a:t>
            </a:r>
            <a:r>
              <a:rPr lang="en-US" sz="21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cases. Reviewing the model's top 250 finds </a:t>
            </a:r>
            <a:r>
              <a:rPr lang="en-US" sz="2100" b="1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r>
              <a:rPr lang="en-US" sz="21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0910888" y="4516755"/>
            <a:ext cx="687847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90"/>
              </a:lnSpc>
              <a:buNone/>
            </a:pPr>
            <a:r>
              <a:rPr lang="en-US" sz="55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5.9×</a:t>
            </a:r>
            <a:endParaRPr lang="en-US" sz="5550" dirty="0"/>
          </a:p>
        </p:txBody>
      </p:sp>
      <p:sp>
        <p:nvSpPr>
          <p:cNvPr id="46" name="Text 44"/>
          <p:cNvSpPr/>
          <p:nvPr/>
        </p:nvSpPr>
        <p:spPr>
          <a:xfrm>
            <a:off x="10910888" y="5278755"/>
            <a:ext cx="687847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cases · same effort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910888" y="5835015"/>
            <a:ext cx="64407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does not make the trade-off — it exposes the frontier. The compliance lead chooses.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MODEL LEARNED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top feature is structural — none are amounts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748915"/>
            <a:ext cx="8313139" cy="667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out_degree_unique / in_degree_unique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convergence of distinct counterparties = </a:t>
            </a:r>
            <a:r>
              <a:rPr lang="en-US" sz="180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fan_in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3568700"/>
            <a:ext cx="8878109" cy="352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ratio_degree_in_out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receives from many, sends to few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4073843"/>
            <a:ext cx="8878109" cy="352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n_reciprocal_cp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bidirectional counterparties = </a:t>
            </a:r>
            <a:r>
              <a:rPr lang="en-US" sz="180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4578985"/>
            <a:ext cx="8878109" cy="352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burstiness_sent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schemes execute in bursts, not evenly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3950" y="5084127"/>
            <a:ext cx="8313139" cy="6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975"/>
              </a:lnSpc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tx_per_cp_sent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800" i="1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repeating with one counterparty lowers risk; spreading across many raises it = structuring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23950" y="5995353"/>
            <a:ext cx="8071009" cy="1398270"/>
          </a:xfrm>
          <a:prstGeom prst="roundRect">
            <a:avLst>
              <a:gd name="adj" fmla="val 5450"/>
            </a:avLst>
          </a:prstGeom>
          <a:solidFill>
            <a:srgbClr val="F3F0E9"/>
          </a:solidFill>
          <a:ln w="7620">
            <a:solidFill>
              <a:srgbClr val="DCD7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360170" y="6212523"/>
            <a:ext cx="7826526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confirmation: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</a:t>
            </a: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 </a:t>
            </a:r>
            <a:r>
              <a:rPr lang="en-US" sz="180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n_extreme_tx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overflow-affected feature we had flagged as mechanically correlated. It agreed with us.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61709" y="9269730"/>
            <a:ext cx="80325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 beeswarm — global feature attribution</a:t>
            </a:r>
            <a:endParaRPr lang="en-US" sz="16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E604D8E-4555-6542-E5AB-AB893B2FF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09" y="2748915"/>
            <a:ext cx="6924036" cy="6385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EXPLAINING A SINGLE DECISION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score alone is not a SAR narrative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710815"/>
            <a:ext cx="243095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Account 5844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524409" y="2794635"/>
            <a:ext cx="16596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0.9997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23669" y="2794635"/>
            <a:ext cx="33192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040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 label: SUSPICIOUS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23950" y="3834765"/>
            <a:ext cx="4987131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238250" y="3484245"/>
            <a:ext cx="490814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111081" y="3834765"/>
            <a:ext cx="2299018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225381" y="3484245"/>
            <a:ext cx="214661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410099" y="3834765"/>
            <a:ext cx="1015524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448199" y="3484245"/>
            <a:ext cx="8631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23950" y="4745355"/>
            <a:ext cx="4987131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238250" y="4021455"/>
            <a:ext cx="490814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activity in a single timestep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11081" y="4745355"/>
            <a:ext cx="229901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225381" y="4021455"/>
            <a:ext cx="214661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burstiness = 1.00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410099" y="4745355"/>
            <a:ext cx="1015524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448199" y="4021455"/>
            <a:ext cx="86312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+1.40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23950" y="5690235"/>
            <a:ext cx="4987131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238250" y="4924425"/>
            <a:ext cx="490814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from 2.3× more counterparties than it sends to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11081" y="5690235"/>
            <a:ext cx="229901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225381" y="4924425"/>
            <a:ext cx="214661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ratio = 2.33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410099" y="5690235"/>
            <a:ext cx="1015524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448199" y="4924425"/>
            <a:ext cx="86312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+1.33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123950" y="6589395"/>
            <a:ext cx="4987131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1238250" y="5869305"/>
            <a:ext cx="490814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bidirectional counterparties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11081" y="6589395"/>
            <a:ext cx="2299018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225381" y="5869305"/>
            <a:ext cx="2146618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reciprocity = 0.10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410099" y="6589395"/>
            <a:ext cx="1015524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448199" y="5869305"/>
            <a:ext cx="86312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+0.88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123950" y="6867525"/>
            <a:ext cx="38100" cy="1000125"/>
          </a:xfrm>
          <a:prstGeom prst="rect">
            <a:avLst/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1390650" y="6867525"/>
            <a:ext cx="827602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243"/>
              </a:lnSpc>
              <a:buNone/>
            </a:pPr>
            <a:r>
              <a:rPr lang="en-US" sz="1875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account was flagged because it concentrated its entire activity into one timestep, receives from disproportionately many distinct counterparties, and maintains circular relationships."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123950" y="8077200"/>
            <a:ext cx="913184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SAR narrative. A score alone is not.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092372" y="9269730"/>
            <a:ext cx="77788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 waterfall — account 5844</a:t>
            </a:r>
            <a:endParaRPr lang="en-US" sz="165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0272D4B9-6B24-B9A0-8B4F-9D0F7409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672" y="2425065"/>
            <a:ext cx="8296275" cy="6638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LIMITATIONS AND 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carry forward, and where it goes next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2767965"/>
            <a:ext cx="69161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LIMITATIONS WE CARRY FORWARD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326326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3291840"/>
            <a:ext cx="5451179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are optimistic: 16.85% prevalence vs &lt;1% in production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403288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4061460"/>
            <a:ext cx="560291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typologies only — no guarantee of generalization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3950" y="449389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4522470"/>
            <a:ext cx="273589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channel — no cash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3950" y="4954905"/>
            <a:ext cx="1524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500" y="4983480"/>
            <a:ext cx="557610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 not yet calibrated to team capacity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16252" y="2767965"/>
            <a:ext cx="99525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STEPS, IN PRIORITY ORDER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16252" y="3263265"/>
            <a:ext cx="323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516302" y="3263265"/>
            <a:ext cx="4051349" cy="943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Re-validate at realistic prevalence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downsample positives to ~1%. The test that matters.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30652" y="3263265"/>
            <a:ext cx="323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230702" y="3263265"/>
            <a:ext cx="4051349" cy="943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Second-order graph features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PageRank, betweenness, community detection.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16252" y="4321016"/>
            <a:ext cx="323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16302" y="4321016"/>
            <a:ext cx="4051349" cy="943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learn from topology directly, not a tabular translation.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652" y="4321016"/>
            <a:ext cx="323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230702" y="4321016"/>
            <a:ext cx="4051349" cy="641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K to capacity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optimize for Precision@K, not a global metric.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16252" y="5378768"/>
            <a:ext cx="323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516302" y="5378768"/>
            <a:ext cx="4051349" cy="943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split + drift monitoring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replicate deployment; retrain on schedule.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30652" y="5378768"/>
            <a:ext cx="323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230702" y="5378768"/>
            <a:ext cx="4051349" cy="641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483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LLM-assisted SAR narratives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turn SHAP output into analyst-ready text.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1152525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1609725"/>
            <a:ext cx="1764411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I would want you to take away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23950" y="4328795"/>
            <a:ext cx="16040100" cy="9525"/>
          </a:xfrm>
          <a:prstGeom prst="rect">
            <a:avLst/>
          </a:prstGeom>
          <a:solidFill>
            <a:srgbClr val="F0EFE9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123950" y="4603115"/>
            <a:ext cx="742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25"/>
              </a:lnSpc>
              <a:buNone/>
            </a:pPr>
            <a:r>
              <a:rPr lang="en-US" sz="45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114550" y="4603115"/>
            <a:ext cx="15500985" cy="918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942"/>
              </a:lnSpc>
              <a:buNone/>
            </a:pPr>
            <a:r>
              <a:rPr lang="en-US" sz="2550" dirty="0">
                <a:solidFill>
                  <a:srgbClr val="E8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features that worked were the ones built from the </a:t>
            </a:r>
            <a:r>
              <a:rPr lang="en-US" sz="255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the crime </a:t>
            </a:r>
            <a:r>
              <a:rPr lang="en-US" sz="2550" dirty="0">
                <a:solidFill>
                  <a:srgbClr val="E8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network degree, reciprocity, burstiness. Not volume. Not amounts.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23950" y="5750560"/>
            <a:ext cx="16040100" cy="9525"/>
          </a:xfrm>
          <a:prstGeom prst="rect">
            <a:avLst/>
          </a:prstGeom>
          <a:solidFill>
            <a:srgbClr val="F0EFE9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123950" y="6024880"/>
            <a:ext cx="742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25"/>
              </a:lnSpc>
              <a:buNone/>
            </a:pPr>
            <a:r>
              <a:rPr lang="en-US" sz="45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114550" y="6024880"/>
            <a:ext cx="14524260" cy="478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42"/>
              </a:lnSpc>
              <a:buNone/>
            </a:pPr>
            <a:r>
              <a:rPr lang="en-US" sz="2550" dirty="0">
                <a:solidFill>
                  <a:srgbClr val="E8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</a:t>
            </a:r>
            <a:r>
              <a:rPr lang="en-US" sz="255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score was its least trustworthy one</a:t>
            </a:r>
            <a:r>
              <a:rPr lang="en-US" sz="2550" dirty="0">
                <a:solidFill>
                  <a:srgbClr val="E8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0.967 was a shortcut. 0.943 is real.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23950" y="7975600"/>
            <a:ext cx="16040100" cy="9525"/>
          </a:xfrm>
          <a:prstGeom prst="rect">
            <a:avLst/>
          </a:prstGeom>
          <a:solidFill>
            <a:srgbClr val="F0EFE9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1123950" y="6863080"/>
            <a:ext cx="16040100" cy="9525"/>
          </a:xfrm>
          <a:prstGeom prst="rect">
            <a:avLst/>
          </a:prstGeom>
          <a:solidFill>
            <a:srgbClr val="F0EFE9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123950" y="7137400"/>
            <a:ext cx="742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25"/>
              </a:lnSpc>
              <a:buNone/>
            </a:pPr>
            <a:r>
              <a:rPr lang="en-US" sz="45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114550" y="7137400"/>
            <a:ext cx="16278368" cy="478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42"/>
              </a:lnSpc>
              <a:buNone/>
            </a:pPr>
            <a:r>
              <a:rPr lang="en-US" sz="2550" dirty="0">
                <a:solidFill>
                  <a:srgbClr val="E8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you cannot explain cannot be deployed in AML. </a:t>
            </a:r>
            <a:r>
              <a:rPr lang="en-US" sz="255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is not a nice-to-have — it is the SAR.</a:t>
            </a:r>
            <a:endParaRPr lang="en-US" sz="2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3925253"/>
            <a:ext cx="419100" cy="28575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23950" y="4201478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A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3950" y="4734878"/>
            <a:ext cx="17644110" cy="120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 slides</a:t>
            </a:r>
            <a:endParaRPr lang="en-US" sz="7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914400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52550"/>
            <a:ext cx="1764411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Univariate signal check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3950" y="2137410"/>
            <a:ext cx="146685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Mann-Whitney U (non-parametric — the variables are heavy-tailed, so a t-test would be invalid):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3208020"/>
            <a:ext cx="4973796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238250" y="2857500"/>
            <a:ext cx="48944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097746" y="3208020"/>
            <a:ext cx="2712879" cy="1524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130660" y="2857500"/>
            <a:ext cx="25656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23950" y="3844290"/>
            <a:ext cx="497379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238250" y="3375660"/>
            <a:ext cx="489441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in_degree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097746" y="3844290"/>
            <a:ext cx="271287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130660" y="3375660"/>
            <a:ext cx="256566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6.26e-80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23950" y="4469130"/>
            <a:ext cx="497379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238250" y="4004310"/>
            <a:ext cx="48944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in_amount_total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6097746" y="4469130"/>
            <a:ext cx="271287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130660" y="4004310"/>
            <a:ext cx="25656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1.41e-54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23950" y="5093970"/>
            <a:ext cx="4973796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238250" y="4629150"/>
            <a:ext cx="48944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out_degree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097746" y="5093970"/>
            <a:ext cx="2712879" cy="9525"/>
          </a:xfrm>
          <a:prstGeom prst="rect">
            <a:avLst/>
          </a:prstGeom>
          <a:solidFill>
            <a:srgbClr val="DCD7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130660" y="4629150"/>
            <a:ext cx="25656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9.80e-21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238250" y="5253990"/>
            <a:ext cx="489441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A2B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out_amount_total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130660" y="5253990"/>
            <a:ext cx="256566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2F6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4.34e-04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477375" y="2743200"/>
            <a:ext cx="791727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significant. Inbound flow dominates outbound — consistent with </a:t>
            </a:r>
            <a:r>
              <a:rPr lang="en-US" sz="180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fan_in </a:t>
            </a:r>
            <a:r>
              <a:rPr lang="en-US" sz="1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concentrating anomaly on the receiver.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77375" y="3577590"/>
            <a:ext cx="79172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</a:t>
            </a: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≠ effect size. Max correlation was 0.30. This is why we expected XGBoost to win.</a:t>
            </a:r>
            <a:endParaRPr lang="en-US" sz="18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85FCDC75-C3EF-09A0-5DF5-D678341F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69" y="6467438"/>
            <a:ext cx="9998582" cy="16821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914400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52550"/>
            <a:ext cx="1764411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not SMOTE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3950" y="4754880"/>
            <a:ext cx="1373505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30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Synthesizing accounts by interpolating network features produces </a:t>
            </a: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impossible records </a:t>
            </a:r>
            <a:r>
              <a:rPr lang="en-US" sz="30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e.g. a </a:t>
            </a:r>
            <a:r>
              <a:rPr lang="en-US" sz="25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reciprocity_ratio </a:t>
            </a:r>
            <a:r>
              <a:rPr lang="en-US" sz="30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incompatible with the interpolated </a:t>
            </a:r>
            <a:r>
              <a:rPr lang="en-US" sz="25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in_degree</a:t>
            </a:r>
            <a:r>
              <a:rPr lang="en-US" sz="30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3950" y="6621780"/>
            <a:ext cx="146685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3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 achieves the same goal without fabricating data.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914400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52550"/>
            <a:ext cx="1764411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not Random Forest / LightGBM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3950" y="4918710"/>
            <a:ext cx="845534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Random Forest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23950" y="5775960"/>
            <a:ext cx="791727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Valid, simpler. Bagging averages independent strong trees; boosting chains weak learners that correct each other — better at the subtle interactions this problem needs.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477374" y="5010150"/>
            <a:ext cx="845534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LightGBM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477375" y="5775960"/>
            <a:ext cx="845534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8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edge is speed at scale. At 10,000 rows, both train in seconds.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914400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52550"/>
            <a:ext cx="1764411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Cross-validation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3950" y="5307330"/>
            <a:ext cx="146685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30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stratified CV on train, PR-AUC.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3950" y="6069330"/>
            <a:ext cx="146685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3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holdout → performance is not a lucky partition.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914400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52550"/>
            <a:ext cx="1764411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dictionary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3950" y="5107305"/>
            <a:ext cx="137350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300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column-by-column breakdown of the three files, with observed relationships.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3950" y="6402705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2250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Notebook 1, Section 2.1.</a:t>
            </a:r>
            <a:endParaRPr lang="en-US" sz="2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914400"/>
            <a:ext cx="17644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A6B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52550"/>
            <a:ext cx="1764411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Window censoring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3950" y="2682920"/>
            <a:ext cx="14716125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23"/>
              </a:lnSpc>
              <a:buNone/>
            </a:pPr>
            <a:r>
              <a:rPr lang="en-US" sz="2250" b="1" dirty="0">
                <a:solidFill>
                  <a:srgbClr val="1A2B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183 / 192 </a:t>
            </a:r>
            <a:r>
              <a:rPr lang="en-US" sz="2250" dirty="0">
                <a:solidFill>
                  <a:srgbClr val="3A46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cycle </a:t>
            </a:r>
            <a:r>
              <a:rPr lang="en-US" sz="2250" dirty="0">
                <a:solidFill>
                  <a:srgbClr val="3A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form a verified closed cycle. The 9 that do not are fragments at timesteps 194–199 or 4–12 — the edges of the observation window.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23950" y="3726861"/>
            <a:ext cx="15716250" cy="443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23"/>
              </a:lnSpc>
              <a:buNone/>
            </a:pPr>
            <a:r>
              <a:rPr lang="en-US" sz="22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labeling error: schemes truncated by the capture period. The same occurs in any finite production window.</a:t>
            </a:r>
            <a:endParaRPr lang="en-US" sz="22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99D94B7-FC47-424A-7AEC-222437090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21" y="4551742"/>
            <a:ext cx="8287988" cy="53237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2228</Words>
  <Application>Microsoft Office PowerPoint</Application>
  <PresentationFormat>Personalizado</PresentationFormat>
  <Paragraphs>360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Hanken Grotesk</vt:lpstr>
      <vt:lpstr>JetBrains Mono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Patricio Escobar Montoya</cp:lastModifiedBy>
  <cp:revision>8</cp:revision>
  <dcterms:created xsi:type="dcterms:W3CDTF">2026-07-13T02:53:52Z</dcterms:created>
  <dcterms:modified xsi:type="dcterms:W3CDTF">2026-07-23T22:36:12Z</dcterms:modified>
</cp:coreProperties>
</file>